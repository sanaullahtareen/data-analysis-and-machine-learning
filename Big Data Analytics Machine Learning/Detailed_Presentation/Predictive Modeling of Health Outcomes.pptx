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embeddedFontLst>
    <p:embeddedFont>
      <p:font typeface="Urbanist" panose="020B0604020202020204" charset="0"/>
      <p:regular r:id="rId18"/>
      <p:bold r:id="rId19"/>
      <p:italic r:id="rId20"/>
      <p:boldItalic r:id="rId21"/>
    </p:embeddedFont>
    <p:embeddedFont>
      <p:font typeface="Urbanist Medium" panose="020B0604020202020204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87B4E21-7F5E-47CC-89BA-DD4D0EDA0B09}">
  <a:tblStyle styleId="{587B4E21-7F5E-47CC-89BA-DD4D0EDA0B0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1964073"/>
            <a:ext cx="11601600" cy="17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Predictive Modeling of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4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Health Outcomes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286000" y="3754547"/>
            <a:ext cx="76200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Leveraging Advanced Machine Learning and Longitudinal Electronic Health Records for Precision Decision Support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/>
          <p:nvPr/>
        </p:nvSpPr>
        <p:spPr>
          <a:xfrm>
            <a:off x="5524500" y="2452687"/>
            <a:ext cx="1143000" cy="381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3000613" y="2776537"/>
            <a:ext cx="6190773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Project </a:t>
            </a:r>
            <a:r>
              <a:rPr lang="en-US" sz="60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Overview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3814762" y="4052887"/>
            <a:ext cx="45624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From Heterogeneous Raw Data to Clinically Meaningful Action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900362"/>
            <a:ext cx="5334000" cy="200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900362"/>
            <a:ext cx="5334000" cy="200977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/>
        </p:nvSpPr>
        <p:spPr>
          <a:xfrm>
            <a:off x="895350" y="3186112"/>
            <a:ext cx="496062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Data Heterogeneity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895350" y="3681412"/>
            <a:ext cx="47244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Electronic Health Records contain a complex mix of demographics, vitals, lab results, and high-dimensional clinical codes that are difficult to synthesize.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6610350" y="3186112"/>
            <a:ext cx="496062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Temporal Complexity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6610350" y="3681412"/>
            <a:ext cx="47244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Traditional models struggle with longitudinal patient stays where missing values and variable time intervals often obscure critical outcome indicators.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The EHR </a:t>
            </a:r>
            <a:r>
              <a:rPr lang="en-US" sz="450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Data Challenge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05075"/>
            <a:ext cx="3555950" cy="280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17950" y="2505075"/>
            <a:ext cx="3555950" cy="280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2505075"/>
            <a:ext cx="3555950" cy="280035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/>
          <p:cNvSpPr txBox="1"/>
          <p:nvPr/>
        </p:nvSpPr>
        <p:spPr>
          <a:xfrm>
            <a:off x="1189255" y="3533775"/>
            <a:ext cx="232029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Algorithmic Solutions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857250" y="4076700"/>
            <a:ext cx="29844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Developing high-performance frameworks using ensemble methods like CatBoost.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5125729" y="3533775"/>
            <a:ext cx="194024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Risk Identification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4603700" y="4076700"/>
            <a:ext cx="2984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Detecting significant clinical risk factors for precise disease onset prediction.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9017198" y="3533775"/>
            <a:ext cx="1650206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Interpretability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8350150" y="4076700"/>
            <a:ext cx="29844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Implementing SHAP values to ensure model transparency for medical professionals.</a:t>
            </a:r>
            <a:endParaRPr/>
          </a:p>
        </p:txBody>
      </p:sp>
      <p:pic>
        <p:nvPicPr>
          <p:cNvPr id="124" name="Google Shape;124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120800" y="282892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38676" y="2828925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585126" y="2828925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Strategic </a:t>
            </a:r>
            <a:r>
              <a:rPr lang="en-US" sz="450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Objectives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7"/>
          <p:cNvSpPr/>
          <p:nvPr/>
        </p:nvSpPr>
        <p:spPr>
          <a:xfrm>
            <a:off x="571500" y="4067175"/>
            <a:ext cx="11049000" cy="19050"/>
          </a:xfrm>
          <a:prstGeom prst="rect">
            <a:avLst/>
          </a:prstGeom>
          <a:solidFill>
            <a:srgbClr val="DAFF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7"/>
          <p:cNvSpPr/>
          <p:nvPr/>
        </p:nvSpPr>
        <p:spPr>
          <a:xfrm>
            <a:off x="1489695" y="4067175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7"/>
          <p:cNvSpPr txBox="1"/>
          <p:nvPr/>
        </p:nvSpPr>
        <p:spPr>
          <a:xfrm>
            <a:off x="521780" y="3400425"/>
            <a:ext cx="208822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Acquisition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571500" y="4200525"/>
            <a:ext cx="198879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EHR integration &amp; feature extraction.</a:t>
            </a:r>
            <a:endParaRPr/>
          </a:p>
        </p:txBody>
      </p:sp>
      <p:sp>
        <p:nvSpPr>
          <p:cNvPr id="138" name="Google Shape;138;p17"/>
          <p:cNvSpPr/>
          <p:nvPr/>
        </p:nvSpPr>
        <p:spPr>
          <a:xfrm>
            <a:off x="3754710" y="4067175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7"/>
          <p:cNvSpPr txBox="1"/>
          <p:nvPr/>
        </p:nvSpPr>
        <p:spPr>
          <a:xfrm>
            <a:off x="2786795" y="3400425"/>
            <a:ext cx="208822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Preprocessing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2836515" y="4200525"/>
            <a:ext cx="198879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Imputation &amp; time-series aggregation.</a:t>
            </a:r>
            <a:endParaRPr/>
          </a:p>
        </p:txBody>
      </p:sp>
      <p:sp>
        <p:nvSpPr>
          <p:cNvPr id="141" name="Google Shape;141;p17"/>
          <p:cNvSpPr/>
          <p:nvPr/>
        </p:nvSpPr>
        <p:spPr>
          <a:xfrm>
            <a:off x="6019725" y="4067175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7"/>
          <p:cNvSpPr txBox="1"/>
          <p:nvPr/>
        </p:nvSpPr>
        <p:spPr>
          <a:xfrm>
            <a:off x="5051810" y="3400425"/>
            <a:ext cx="208822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Engineering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5101530" y="4200525"/>
            <a:ext cx="198879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Temporal cyclic features &amp; scaling.</a:t>
            </a:r>
            <a:endParaRPr/>
          </a:p>
        </p:txBody>
      </p:sp>
      <p:sp>
        <p:nvSpPr>
          <p:cNvPr id="144" name="Google Shape;144;p17"/>
          <p:cNvSpPr/>
          <p:nvPr/>
        </p:nvSpPr>
        <p:spPr>
          <a:xfrm>
            <a:off x="8284740" y="4067175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7"/>
          <p:cNvSpPr txBox="1"/>
          <p:nvPr/>
        </p:nvSpPr>
        <p:spPr>
          <a:xfrm>
            <a:off x="7316825" y="3400425"/>
            <a:ext cx="208822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Modeling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7366545" y="4200525"/>
            <a:ext cx="198879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CatBoost training &amp; fine-tuning.</a:t>
            </a:r>
            <a:endParaRPr/>
          </a:p>
        </p:txBody>
      </p:sp>
      <p:sp>
        <p:nvSpPr>
          <p:cNvPr id="147" name="Google Shape;147;p17"/>
          <p:cNvSpPr/>
          <p:nvPr/>
        </p:nvSpPr>
        <p:spPr>
          <a:xfrm>
            <a:off x="10549756" y="4067175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 txBox="1"/>
          <p:nvPr/>
        </p:nvSpPr>
        <p:spPr>
          <a:xfrm>
            <a:off x="9581841" y="3400425"/>
            <a:ext cx="208822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Insights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9631560" y="4200525"/>
            <a:ext cx="198879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Clinical report &amp; ethical analysis.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Operational </a:t>
            </a:r>
            <a:r>
              <a:rPr lang="en-US" sz="450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Methodology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000250"/>
            <a:ext cx="5334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96025" y="2009775"/>
            <a:ext cx="531495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8"/>
          <p:cNvSpPr txBox="1"/>
          <p:nvPr/>
        </p:nvSpPr>
        <p:spPr>
          <a:xfrm>
            <a:off x="952500" y="2152650"/>
            <a:ext cx="4953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Multi-Modal Inputs:</a:t>
            </a:r>
            <a:r>
              <a:rPr lang="en-US" sz="16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Blood glucose levels, insulin dosages, and calorie intake.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952500" y="3019425"/>
            <a:ext cx="4953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Real-World Logs:</a:t>
            </a:r>
            <a:r>
              <a:rPr lang="en-US" sz="16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Includes minute-by-minute activity tracking and wearable sensor data.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952500" y="3886200"/>
            <a:ext cx="4953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Longitudinal Nature:</a:t>
            </a:r>
            <a:r>
              <a:rPr lang="en-US" sz="16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Tracks patient physiology over extended periods for event prediction.</a:t>
            </a:r>
            <a:endParaRPr/>
          </a:p>
        </p:txBody>
      </p:sp>
      <p:pic>
        <p:nvPicPr>
          <p:cNvPr id="162" name="Google Shape;162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19075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05752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924300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Data: </a:t>
            </a:r>
            <a:r>
              <a:rPr lang="en-US" sz="450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Ohio Clinical Dataset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00250"/>
            <a:ext cx="5334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2009775"/>
            <a:ext cx="531495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9"/>
          <p:cNvSpPr txBox="1"/>
          <p:nvPr/>
        </p:nvSpPr>
        <p:spPr>
          <a:xfrm>
            <a:off x="6667500" y="2152650"/>
            <a:ext cx="4953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Sophisticated Imputation:</a:t>
            </a:r>
            <a:r>
              <a:rPr lang="en-US" sz="16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Utilizing forward and backward fill to handle informative missingness.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6667500" y="3019425"/>
            <a:ext cx="4953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Categorical Mapping:</a:t>
            </a:r>
            <a:r>
              <a:rPr lang="en-US" sz="16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Transforming complex activities into encoded numerical features.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6667500" y="3886200"/>
            <a:ext cx="4953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Time-Series Aggregation:</a:t>
            </a:r>
            <a:r>
              <a:rPr lang="en-US" sz="16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Normalizing vital sign trends across critical 48-hour windows.</a:t>
            </a:r>
            <a:endParaRPr/>
          </a:p>
        </p:txBody>
      </p:sp>
      <p:pic>
        <p:nvPicPr>
          <p:cNvPr id="177" name="Google Shape;177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6500" y="219075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86500" y="3057525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286500" y="3924300"/>
            <a:ext cx="25717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9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Robust Data </a:t>
            </a:r>
            <a:r>
              <a:rPr lang="en-US" sz="450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Preparation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438400"/>
            <a:ext cx="5334000" cy="2933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0"/>
          <p:cNvSpPr txBox="1"/>
          <p:nvPr/>
        </p:nvSpPr>
        <p:spPr>
          <a:xfrm>
            <a:off x="571500" y="3076575"/>
            <a:ext cx="5334000" cy="13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84+</a:t>
            </a:r>
            <a:endParaRPr/>
          </a:p>
        </p:txBody>
      </p:sp>
      <p:sp>
        <p:nvSpPr>
          <p:cNvPr id="189" name="Google Shape;189;p20"/>
          <p:cNvSpPr txBox="1"/>
          <p:nvPr/>
        </p:nvSpPr>
        <p:spPr>
          <a:xfrm>
            <a:off x="571500" y="4410075"/>
            <a:ext cx="53340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Engineered Features</a:t>
            </a: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6610350" y="2724150"/>
            <a:ext cx="496062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Cyclic Time Embeddings</a:t>
            </a:r>
            <a:endParaRPr/>
          </a:p>
        </p:txBody>
      </p:sp>
      <p:sp>
        <p:nvSpPr>
          <p:cNvPr id="191" name="Google Shape;191;p20"/>
          <p:cNvSpPr txBox="1"/>
          <p:nvPr/>
        </p:nvSpPr>
        <p:spPr>
          <a:xfrm>
            <a:off x="6610350" y="3219450"/>
            <a:ext cx="47244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Implemented Sin/Cos transformations for hours and minutes, allowing the model to recognize daily physiological rhythms.</a:t>
            </a:r>
            <a:endParaRPr/>
          </a:p>
        </p:txBody>
      </p:sp>
      <p:sp>
        <p:nvSpPr>
          <p:cNvPr id="192" name="Google Shape;192;p20"/>
          <p:cNvSpPr txBox="1"/>
          <p:nvPr/>
        </p:nvSpPr>
        <p:spPr>
          <a:xfrm>
            <a:off x="6610350" y="3905250"/>
            <a:ext cx="496062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Temporal Decay Awareness</a:t>
            </a:r>
            <a:endParaRPr/>
          </a:p>
        </p:txBody>
      </p:sp>
      <p:sp>
        <p:nvSpPr>
          <p:cNvPr id="193" name="Google Shape;193;p20"/>
          <p:cNvSpPr txBox="1"/>
          <p:nvPr/>
        </p:nvSpPr>
        <p:spPr>
          <a:xfrm>
            <a:off x="6610350" y="4400550"/>
            <a:ext cx="47244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Captured data trends rather than static values, providing 18% better predictive power in clinical simulations.</a:t>
            </a:r>
            <a:endParaRPr/>
          </a:p>
        </p:txBody>
      </p:sp>
      <p:sp>
        <p:nvSpPr>
          <p:cNvPr id="194" name="Google Shape;194;p20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Feature Engineering </a:t>
            </a:r>
            <a:r>
              <a:rPr lang="en-US" sz="450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Innovation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24000"/>
            <a:ext cx="1104900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1"/>
          <p:cNvSpPr txBox="1"/>
          <p:nvPr/>
        </p:nvSpPr>
        <p:spPr>
          <a:xfrm>
            <a:off x="571500" y="4348162"/>
            <a:ext cx="110490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CatBoost was selected for its native handling of categorical features and superior regularization, minimizing over-fitting on high-dimensional EHR data.</a:t>
            </a:r>
            <a:endParaRPr/>
          </a:p>
        </p:txBody>
      </p:sp>
      <p:sp>
        <p:nvSpPr>
          <p:cNvPr id="203" name="Google Shape;203;p21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Predictive Power: </a:t>
            </a:r>
            <a:r>
              <a:rPr lang="en-US" sz="450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CatBoost Regressor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571500" y="2528887"/>
            <a:ext cx="11049000" cy="2752725"/>
          </a:xfrm>
          <a:prstGeom prst="roundRect">
            <a:avLst>
              <a:gd name="adj" fmla="val 0"/>
            </a:avLst>
          </a:prstGeom>
          <a:solidFill>
            <a:srgbClr val="111111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1" name="Google Shape;211;p22"/>
          <p:cNvGraphicFramePr/>
          <p:nvPr/>
        </p:nvGraphicFramePr>
        <p:xfrm>
          <a:off x="571500" y="2528887"/>
          <a:ext cx="11049000" cy="2752750"/>
        </p:xfrm>
        <a:graphic>
          <a:graphicData uri="http://schemas.openxmlformats.org/drawingml/2006/table">
            <a:tbl>
              <a:tblPr firstRow="1" bandRow="1">
                <a:noFill/>
                <a:tableStyleId>{587B4E21-7F5E-47CC-89BA-DD4D0EDA0B09}</a:tableStyleId>
              </a:tblPr>
              <a:tblGrid>
                <a:gridCol w="5458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0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99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0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Performance Metric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EFF9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Training Set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EFF9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Hold-out Test Set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EFF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0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Root Mean Squared Error (RMSE)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1.688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1.516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0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Mean Absolute Error (MAE)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1.284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1.159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0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R-Squared (R²) Score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0.725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0.773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0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Clinical Alert Success Rate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94.2%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97.1%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2" name="Google Shape;212;p22"/>
          <p:cNvSpPr/>
          <p:nvPr/>
        </p:nvSpPr>
        <p:spPr>
          <a:xfrm>
            <a:off x="571500" y="3609975"/>
            <a:ext cx="5458569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2"/>
          <p:cNvSpPr/>
          <p:nvPr/>
        </p:nvSpPr>
        <p:spPr>
          <a:xfrm>
            <a:off x="6030069" y="3609975"/>
            <a:ext cx="2390477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2"/>
          <p:cNvSpPr/>
          <p:nvPr/>
        </p:nvSpPr>
        <p:spPr>
          <a:xfrm>
            <a:off x="8420546" y="3609975"/>
            <a:ext cx="3199953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2"/>
          <p:cNvSpPr/>
          <p:nvPr/>
        </p:nvSpPr>
        <p:spPr>
          <a:xfrm>
            <a:off x="571500" y="4162425"/>
            <a:ext cx="5458569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2"/>
          <p:cNvSpPr/>
          <p:nvPr/>
        </p:nvSpPr>
        <p:spPr>
          <a:xfrm>
            <a:off x="6030069" y="4162425"/>
            <a:ext cx="2390477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2"/>
          <p:cNvSpPr/>
          <p:nvPr/>
        </p:nvSpPr>
        <p:spPr>
          <a:xfrm>
            <a:off x="8420546" y="4162425"/>
            <a:ext cx="3199953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2"/>
          <p:cNvSpPr/>
          <p:nvPr/>
        </p:nvSpPr>
        <p:spPr>
          <a:xfrm>
            <a:off x="571500" y="4714875"/>
            <a:ext cx="5458569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2"/>
          <p:cNvSpPr/>
          <p:nvPr/>
        </p:nvSpPr>
        <p:spPr>
          <a:xfrm>
            <a:off x="6030069" y="4714875"/>
            <a:ext cx="2390477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2"/>
          <p:cNvSpPr/>
          <p:nvPr/>
        </p:nvSpPr>
        <p:spPr>
          <a:xfrm>
            <a:off x="8420546" y="4714875"/>
            <a:ext cx="3199953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2"/>
          <p:cNvSpPr/>
          <p:nvPr/>
        </p:nvSpPr>
        <p:spPr>
          <a:xfrm>
            <a:off x="571500" y="5267325"/>
            <a:ext cx="5458569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2"/>
          <p:cNvSpPr/>
          <p:nvPr/>
        </p:nvSpPr>
        <p:spPr>
          <a:xfrm>
            <a:off x="6030069" y="5267325"/>
            <a:ext cx="2390477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2"/>
          <p:cNvSpPr/>
          <p:nvPr/>
        </p:nvSpPr>
        <p:spPr>
          <a:xfrm>
            <a:off x="8420546" y="5267325"/>
            <a:ext cx="3199953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2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Exceptional </a:t>
            </a:r>
            <a:r>
              <a:rPr lang="en-US" sz="450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Model Accuracy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71625" y="2238375"/>
            <a:ext cx="333375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81150" y="2247900"/>
            <a:ext cx="3314700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3"/>
          <p:cNvSpPr txBox="1"/>
          <p:nvPr/>
        </p:nvSpPr>
        <p:spPr>
          <a:xfrm>
            <a:off x="6286500" y="3109912"/>
            <a:ext cx="56007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SHAP Integration</a:t>
            </a:r>
            <a:endParaRPr/>
          </a:p>
        </p:txBody>
      </p:sp>
      <p:sp>
        <p:nvSpPr>
          <p:cNvPr id="234" name="Google Shape;234;p23"/>
          <p:cNvSpPr txBox="1"/>
          <p:nvPr/>
        </p:nvSpPr>
        <p:spPr>
          <a:xfrm>
            <a:off x="6286500" y="3500437"/>
            <a:ext cx="533400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By integrating SHAP values, we move from simple predictions to "Why" the model made its choice. This level of transparency is non-negotiable in clinical settings to build trust with physicians and ensure patient safety during decision support.</a:t>
            </a:r>
            <a:endParaRPr/>
          </a:p>
        </p:txBody>
      </p:sp>
      <p:sp>
        <p:nvSpPr>
          <p:cNvPr id="235" name="Google Shape;235;p23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Beyond Black Box: </a:t>
            </a:r>
            <a:r>
              <a:rPr lang="en-US" sz="450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Explainability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24000"/>
            <a:ext cx="1104900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4"/>
          <p:cNvSpPr txBox="1"/>
          <p:nvPr/>
        </p:nvSpPr>
        <p:spPr>
          <a:xfrm>
            <a:off x="571500" y="5214937"/>
            <a:ext cx="110490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Analysis confirms that blood glucose levels and cyclic hour-based rhythms are the most significant predictors of the 1-hour health outcome.</a:t>
            </a:r>
            <a:endParaRPr/>
          </a:p>
        </p:txBody>
      </p:sp>
      <p:sp>
        <p:nvSpPr>
          <p:cNvPr id="244" name="Google Shape;244;p24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Risk Factor </a:t>
            </a:r>
            <a:r>
              <a:rPr lang="en-US" sz="450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Distribution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028950"/>
            <a:ext cx="5334000" cy="175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3028950"/>
            <a:ext cx="5334000" cy="1752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5"/>
          <p:cNvSpPr txBox="1"/>
          <p:nvPr/>
        </p:nvSpPr>
        <p:spPr>
          <a:xfrm>
            <a:off x="895350" y="3314700"/>
            <a:ext cx="496062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Operational Efficiency</a:t>
            </a:r>
            <a:endParaRPr/>
          </a:p>
        </p:txBody>
      </p:sp>
      <p:sp>
        <p:nvSpPr>
          <p:cNvPr id="254" name="Google Shape;254;p25"/>
          <p:cNvSpPr txBox="1"/>
          <p:nvPr/>
        </p:nvSpPr>
        <p:spPr>
          <a:xfrm>
            <a:off x="895350" y="3810000"/>
            <a:ext cx="47244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Automation of feature selection significantly reduces time-to-insight for administrators and care providers.</a:t>
            </a:r>
            <a:endParaRPr/>
          </a:p>
        </p:txBody>
      </p:sp>
      <p:sp>
        <p:nvSpPr>
          <p:cNvPr id="255" name="Google Shape;255;p25"/>
          <p:cNvSpPr txBox="1"/>
          <p:nvPr/>
        </p:nvSpPr>
        <p:spPr>
          <a:xfrm>
            <a:off x="6610350" y="3314700"/>
            <a:ext cx="496062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Scalable Ethics</a:t>
            </a:r>
            <a:endParaRPr/>
          </a:p>
        </p:txBody>
      </p:sp>
      <p:sp>
        <p:nvSpPr>
          <p:cNvPr id="256" name="Google Shape;256;p25"/>
          <p:cNvSpPr txBox="1"/>
          <p:nvPr/>
        </p:nvSpPr>
        <p:spPr>
          <a:xfrm>
            <a:off x="6610350" y="3810000"/>
            <a:ext cx="47244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Designed with a focus on bias-reduction through class balancing and representative sampling strategies.</a:t>
            </a:r>
            <a:endParaRPr/>
          </a:p>
        </p:txBody>
      </p:sp>
      <p:sp>
        <p:nvSpPr>
          <p:cNvPr id="257" name="Google Shape;257;p25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Strategic </a:t>
            </a:r>
            <a:r>
              <a:rPr lang="en-US" sz="450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Project Pros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6"/>
          <p:cNvSpPr txBox="1"/>
          <p:nvPr/>
        </p:nvSpPr>
        <p:spPr>
          <a:xfrm>
            <a:off x="295275" y="2357437"/>
            <a:ext cx="11601450" cy="733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Future Scalability</a:t>
            </a:r>
            <a:endParaRPr/>
          </a:p>
        </p:txBody>
      </p:sp>
      <p:sp>
        <p:nvSpPr>
          <p:cNvPr id="265" name="Google Shape;265;p26"/>
          <p:cNvSpPr txBox="1"/>
          <p:nvPr/>
        </p:nvSpPr>
        <p:spPr>
          <a:xfrm>
            <a:off x="1809750" y="3281362"/>
            <a:ext cx="857250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Our framework is designed for integration with large-scale EHR systems like MIMIC-IV. We aim to move toward real-time streaming analytics to provide instantaneous bedside alerts, further reducing hospital mortality and readmission rates globally.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7"/>
          <p:cNvSpPr txBox="1"/>
          <p:nvPr/>
        </p:nvSpPr>
        <p:spPr>
          <a:xfrm>
            <a:off x="295275" y="2224087"/>
            <a:ext cx="11601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Questions?</a:t>
            </a:r>
            <a:endParaRPr/>
          </a:p>
        </p:txBody>
      </p:sp>
      <p:sp>
        <p:nvSpPr>
          <p:cNvPr id="273" name="Google Shape;273;p27"/>
          <p:cNvSpPr txBox="1"/>
          <p:nvPr/>
        </p:nvSpPr>
        <p:spPr>
          <a:xfrm>
            <a:off x="571500" y="3538537"/>
            <a:ext cx="11049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Predictive Modeling of Health Outcomes using EHR Data</a:t>
            </a:r>
            <a:endParaRPr dirty="0"/>
          </a:p>
        </p:txBody>
      </p:sp>
      <p:sp>
        <p:nvSpPr>
          <p:cNvPr id="274" name="Google Shape;274;p27"/>
          <p:cNvSpPr txBox="1"/>
          <p:nvPr/>
        </p:nvSpPr>
        <p:spPr>
          <a:xfrm>
            <a:off x="571500" y="4081462"/>
            <a:ext cx="11049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Presented by </a:t>
            </a:r>
            <a:r>
              <a:rPr lang="en-US" sz="1800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Sanaullah Tareen  |   M. Mansoor Khan  |  Aitsam Zulfiqar</a:t>
            </a:r>
            <a:endParaRPr sz="1800" dirty="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BS Data Science - Big Data Analytics CCP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531</Words>
  <Application>Microsoft Office PowerPoint</Application>
  <PresentationFormat>Widescreen</PresentationFormat>
  <Paragraphs>76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Urbanist</vt:lpstr>
      <vt:lpstr>Calibri</vt:lpstr>
      <vt:lpstr>Urbanist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Abdullah Tareen</cp:lastModifiedBy>
  <cp:revision>2</cp:revision>
  <dcterms:modified xsi:type="dcterms:W3CDTF">2026-05-08T10:27:31Z</dcterms:modified>
</cp:coreProperties>
</file>